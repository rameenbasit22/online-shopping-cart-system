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fc3d227e9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fc3d227e9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fc3d227e9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fc3d227e9_2_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dfc3d227e9_2_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dfc3d227e9_2_1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fc3d227e9_2_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dfc3d227e9_2_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fc3d227e9_2_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c3d227e9_2_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dfc3d227e9_2_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fc3d227e9_2_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fc3d227e9_2_1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dfc3d227e9_2_1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fc3d227e9_2_1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1A1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5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6172200" y="1028700"/>
            <a:ext cx="246888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617220" y="82296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B4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99B4B"/>
                </a:solidFill>
                <a:latin typeface="Calibri"/>
                <a:ea typeface="Calibri"/>
                <a:cs typeface="Calibri"/>
                <a:sym typeface="Calibri"/>
              </a:rPr>
              <a:t>CS PROJECT  ·  OBJECT-ORIENTED PROGRAMMING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17220" y="1165860"/>
            <a:ext cx="61722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1" i="0" lang="en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Online Shopping</a:t>
            </a:r>
            <a:br>
              <a:rPr b="1" i="0" lang="en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1" lang="en" sz="4500" u="none" cap="none" strike="noStrike">
                <a:solidFill>
                  <a:srgbClr val="C99B4B"/>
                </a:solidFill>
                <a:latin typeface="Georgia"/>
                <a:ea typeface="Georgia"/>
                <a:cs typeface="Georgia"/>
                <a:sym typeface="Georgia"/>
              </a:rPr>
              <a:t>Cart System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17220" y="3086100"/>
            <a:ext cx="6035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FC2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D9CFC2"/>
                </a:solidFill>
                <a:latin typeface="Calibri"/>
                <a:ea typeface="Calibri"/>
                <a:cs typeface="Calibri"/>
                <a:sym typeface="Calibri"/>
              </a:rPr>
              <a:t>A C++ console e-commerce simulation built around clean OOP — abstraction, inheritance, polymorphism, encapsulation.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7200900" y="4046220"/>
            <a:ext cx="1508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9B4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99B4B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br>
              <a:rPr b="1" i="0" lang="en" sz="900" u="none" cap="none" strike="noStrike">
                <a:solidFill>
                  <a:srgbClr val="C99B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 —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7269480" y="30861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7A6B"/>
                </a:solidFill>
                <a:latin typeface="Calibri"/>
                <a:ea typeface="Calibri"/>
                <a:cs typeface="Calibri"/>
                <a:sym typeface="Calibri"/>
              </a:rPr>
              <a:t>01  /  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80060" y="41148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What the system actually does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80060" y="89154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A console-based store. The point is to practise OOP — the shopping is just the excuse.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80060" y="1440180"/>
            <a:ext cx="2743200" cy="150876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4592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685800" y="2023110"/>
            <a:ext cx="2400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Browse Catalog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685800" y="2331720"/>
            <a:ext cx="24003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Filter products by Electronics, Clothing or Food.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326130" y="1440180"/>
            <a:ext cx="2743200" cy="150876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1870" y="164592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3531870" y="2023110"/>
            <a:ext cx="2400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Add to Cart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531870" y="2331720"/>
            <a:ext cx="24003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Add by product ID with a quantity. Stock is checked first.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172200" y="1440180"/>
            <a:ext cx="2743200" cy="150876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164592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6377940" y="2023110"/>
            <a:ext cx="2400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Manage Cart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6377940" y="2331720"/>
            <a:ext cx="24003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Update, remove or clear items in the cart.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80060" y="3051810"/>
            <a:ext cx="2743200" cy="150876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2575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685800" y="3634740"/>
            <a:ext cx="2400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Checkout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685800" y="3943350"/>
            <a:ext cx="24003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Apply tax + discount, confirm and lock the order.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326130" y="3051810"/>
            <a:ext cx="2743200" cy="150876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1870" y="32575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3531870" y="3634740"/>
            <a:ext cx="2400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Save Receipt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531870" y="3943350"/>
            <a:ext cx="24003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Receipt written to receipt.txt using ofstream.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172200" y="3051810"/>
            <a:ext cx="2743200" cy="150876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7940" y="32575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6377940" y="3634740"/>
            <a:ext cx="2400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View Saved Receipt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6377940" y="3943350"/>
            <a:ext cx="24003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Read back any past receipt with ifstream.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80060" y="469773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B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8A7A6B"/>
                </a:solidFill>
                <a:latin typeface="Calibri"/>
                <a:ea typeface="Calibri"/>
                <a:cs typeface="Calibri"/>
                <a:sym typeface="Calibri"/>
              </a:rPr>
              <a:t>Built in C++ — no STL containers. Custom String, ProductVector and IntVector instead.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7269480" y="30861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7A6B"/>
                </a:solidFill>
                <a:latin typeface="Calibri"/>
                <a:ea typeface="Calibri"/>
                <a:cs typeface="Calibri"/>
                <a:sym typeface="Calibri"/>
              </a:rPr>
              <a:t>02  /  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480060" y="411480"/>
            <a:ext cx="61722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Class hierarchy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0060" y="891540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Two-level inheritance tree. Everything sellable derives from one abstract Product.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703320" y="1337310"/>
            <a:ext cx="1714500" cy="720090"/>
          </a:xfrm>
          <a:prstGeom prst="rect">
            <a:avLst/>
          </a:prstGeom>
          <a:solidFill>
            <a:srgbClr val="B85042"/>
          </a:solidFill>
          <a:ln cap="flat" cmpd="sng" w="15875">
            <a:solidFill>
              <a:srgbClr val="8C3B3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3806190" y="1460754"/>
            <a:ext cx="15087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806190" y="178308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4DA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F4E4DA"/>
                </a:solidFill>
                <a:latin typeface="Calibri"/>
                <a:ea typeface="Calibri"/>
                <a:cs typeface="Calibri"/>
                <a:sym typeface="Calibri"/>
              </a:rPr>
              <a:t>abstract base class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685800" y="2468880"/>
            <a:ext cx="1783080" cy="754380"/>
          </a:xfrm>
          <a:prstGeom prst="rect">
            <a:avLst/>
          </a:prstGeom>
          <a:solidFill>
            <a:srgbClr val="FAF6F0"/>
          </a:solidFill>
          <a:ln cap="flat" cmpd="sng" w="15875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788670" y="2592324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Electronics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788670" y="2914650"/>
            <a:ext cx="1577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brand · warranty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669030" y="2468880"/>
            <a:ext cx="1783080" cy="754380"/>
          </a:xfrm>
          <a:prstGeom prst="rect">
            <a:avLst/>
          </a:prstGeom>
          <a:solidFill>
            <a:srgbClr val="FAF6F0"/>
          </a:solidFill>
          <a:ln cap="flat" cmpd="sng" w="15875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3771900" y="2592324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Clothing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771900" y="2914650"/>
            <a:ext cx="1577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size · color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652260" y="2468880"/>
            <a:ext cx="1783080" cy="754380"/>
          </a:xfrm>
          <a:prstGeom prst="rect">
            <a:avLst/>
          </a:prstGeom>
          <a:solidFill>
            <a:srgbClr val="FAF6F0"/>
          </a:solidFill>
          <a:ln cap="flat" cmpd="sng" w="15875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6755130" y="2592324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Food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755130" y="2914650"/>
            <a:ext cx="1577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expiry · weight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37160" y="3771900"/>
            <a:ext cx="1371600" cy="651510"/>
          </a:xfrm>
          <a:prstGeom prst="rect">
            <a:avLst/>
          </a:prstGeom>
          <a:solidFill>
            <a:srgbClr val="FAF6F0"/>
          </a:solidFill>
          <a:ln cap="flat" cmpd="sng" w="15875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240030" y="3895344"/>
            <a:ext cx="11658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Mobile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240030" y="4217670"/>
            <a:ext cx="1165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RAM · storage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1680210" y="3771900"/>
            <a:ext cx="1371600" cy="651510"/>
          </a:xfrm>
          <a:prstGeom prst="rect">
            <a:avLst/>
          </a:prstGeom>
          <a:solidFill>
            <a:srgbClr val="FAF6F0"/>
          </a:solidFill>
          <a:ln cap="flat" cmpd="sng" w="15875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1783080" y="3895344"/>
            <a:ext cx="11658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Laptop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783080" y="4217670"/>
            <a:ext cx="1165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processor · screen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7"/>
          <p:cNvCxnSpPr/>
          <p:nvPr/>
        </p:nvCxnSpPr>
        <p:spPr>
          <a:xfrm flipH="1">
            <a:off x="1577340" y="2057400"/>
            <a:ext cx="2983230" cy="411480"/>
          </a:xfrm>
          <a:prstGeom prst="straightConnector1">
            <a:avLst/>
          </a:prstGeom>
          <a:noFill/>
          <a:ln cap="flat" cmpd="sng" w="15875">
            <a:solidFill>
              <a:srgbClr val="8A7A6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2" name="Google Shape;122;p17"/>
          <p:cNvCxnSpPr/>
          <p:nvPr/>
        </p:nvCxnSpPr>
        <p:spPr>
          <a:xfrm>
            <a:off x="4560570" y="205740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8A7A6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3" name="Google Shape;123;p17"/>
          <p:cNvCxnSpPr/>
          <p:nvPr/>
        </p:nvCxnSpPr>
        <p:spPr>
          <a:xfrm>
            <a:off x="4560570" y="2057400"/>
            <a:ext cx="2983230" cy="411480"/>
          </a:xfrm>
          <a:prstGeom prst="straightConnector1">
            <a:avLst/>
          </a:prstGeom>
          <a:noFill/>
          <a:ln cap="flat" cmpd="sng" w="15875">
            <a:solidFill>
              <a:srgbClr val="8A7A6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4" name="Google Shape;124;p17"/>
          <p:cNvCxnSpPr/>
          <p:nvPr/>
        </p:nvCxnSpPr>
        <p:spPr>
          <a:xfrm flipH="1">
            <a:off x="822960" y="3223260"/>
            <a:ext cx="754380" cy="548640"/>
          </a:xfrm>
          <a:prstGeom prst="straightConnector1">
            <a:avLst/>
          </a:prstGeom>
          <a:noFill/>
          <a:ln cap="flat" cmpd="sng" w="15875">
            <a:solidFill>
              <a:srgbClr val="8A7A6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5" name="Google Shape;125;p17"/>
          <p:cNvCxnSpPr/>
          <p:nvPr/>
        </p:nvCxnSpPr>
        <p:spPr>
          <a:xfrm>
            <a:off x="1577340" y="3223260"/>
            <a:ext cx="788670" cy="548640"/>
          </a:xfrm>
          <a:prstGeom prst="straightConnector1">
            <a:avLst/>
          </a:prstGeom>
          <a:noFill/>
          <a:ln cap="flat" cmpd="sng" w="15875">
            <a:solidFill>
              <a:srgbClr val="8A7A6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17"/>
          <p:cNvSpPr/>
          <p:nvPr/>
        </p:nvSpPr>
        <p:spPr>
          <a:xfrm>
            <a:off x="6172200" y="3771900"/>
            <a:ext cx="2468880" cy="102870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3909060"/>
            <a:ext cx="308610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6686550" y="3874770"/>
            <a:ext cx="18516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100"/>
              <a:buFont typeface="Georgia"/>
              <a:buNone/>
            </a:pPr>
            <a:r>
              <a:rPr b="1" i="0" lang="en" sz="11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Helper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309360" y="4217670"/>
            <a:ext cx="22631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Cart  ·  Order  ·  FileHandler  ·  String  ·  ProductVector  ·  IntVector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7269480" y="30861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7A6B"/>
                </a:solidFill>
                <a:latin typeface="Calibri"/>
                <a:ea typeface="Calibri"/>
                <a:cs typeface="Calibri"/>
                <a:sym typeface="Calibri"/>
              </a:rPr>
              <a:t>03  /  OOP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80060" y="41148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Four OOP pillars in this project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80060" y="1165860"/>
            <a:ext cx="4046220" cy="171450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480060" y="1165860"/>
            <a:ext cx="123444" cy="17145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1474470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1371600" y="1440180"/>
            <a:ext cx="30175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Abstraction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371600" y="181737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Product is abstract — you can't instantiate it. All children must implement displayInfo(), getDiscount(), getCategory(), applyOffer().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732020" y="1165860"/>
            <a:ext cx="4046220" cy="171450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732020" y="1165860"/>
            <a:ext cx="123444" cy="17145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0630" y="1474470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5623560" y="1440180"/>
            <a:ext cx="30175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Inheritance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623560" y="181737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Electronics, Clothing, Food extend Product. Mobile and Laptop extend Electronics. Two levels deep.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80060" y="3086100"/>
            <a:ext cx="4046220" cy="171450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80060" y="3086100"/>
            <a:ext cx="123444" cy="17145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670" y="3394710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1371600" y="3360420"/>
            <a:ext cx="30175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Polymorphism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1371600" y="373761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Catalog stored as Product** array. Calling displayInfo() on a pointer runs the correct child version at runtime.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732020" y="3086100"/>
            <a:ext cx="4046220" cy="171450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4732020" y="3086100"/>
            <a:ext cx="123444" cy="17145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0630" y="3394710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5623560" y="3360420"/>
            <a:ext cx="30175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Encapsulation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623560" y="373761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Data is private or protected. Cart only exposes addProduct(), removeProduct(), displayCart() — internals stay hidden.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7269480" y="30861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7A6B"/>
                </a:solidFill>
                <a:latin typeface="Calibri"/>
                <a:ea typeface="Calibri"/>
                <a:cs typeface="Calibri"/>
                <a:sym typeface="Calibri"/>
              </a:rPr>
              <a:t>04  /  Persistence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80060" y="41148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1F1A16"/>
                </a:solidFill>
                <a:latin typeface="Georgia"/>
                <a:ea typeface="Georgia"/>
                <a:cs typeface="Georgia"/>
                <a:sym typeface="Georgia"/>
              </a:rPr>
              <a:t>File handling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80060" y="925830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FileHandler holds only static methods — no globals, all I/O lives inside the class.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80060" y="1371600"/>
            <a:ext cx="4114800" cy="96012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10" y="1611630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/>
          <p:nvPr/>
        </p:nvSpPr>
        <p:spPr>
          <a:xfrm>
            <a:off x="1268730" y="1495044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1F1A16"/>
                </a:solidFill>
                <a:latin typeface="Consolas"/>
                <a:ea typeface="Consolas"/>
                <a:cs typeface="Consolas"/>
                <a:sym typeface="Consolas"/>
              </a:rPr>
              <a:t>receipt.txt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1268730" y="1783080"/>
            <a:ext cx="32232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B3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C3B30"/>
                </a:solidFill>
                <a:latin typeface="Calibri"/>
                <a:ea typeface="Calibri"/>
                <a:cs typeface="Calibri"/>
                <a:sym typeface="Calibri"/>
              </a:rPr>
              <a:t>Mode: write (ofstream)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1268730" y="2023110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Saves the full receipt at every checkout.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80060" y="2400300"/>
            <a:ext cx="4114800" cy="960120"/>
          </a:xfrm>
          <a:prstGeom prst="rect">
            <a:avLst/>
          </a:prstGeom>
          <a:solidFill>
            <a:srgbClr val="FAF6F0"/>
          </a:solidFill>
          <a:ln cap="flat" cmpd="sng" w="12700">
            <a:solidFill>
              <a:srgbClr val="EADFC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10" y="2640330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1268730" y="2523744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A16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1F1A16"/>
                </a:solidFill>
                <a:latin typeface="Consolas"/>
                <a:ea typeface="Consolas"/>
                <a:cs typeface="Consolas"/>
                <a:sym typeface="Consolas"/>
              </a:rPr>
              <a:t>orders_log.txt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1268730" y="2811780"/>
            <a:ext cx="32232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B3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C3B30"/>
                </a:solidFill>
                <a:latin typeface="Calibri"/>
                <a:ea typeface="Calibri"/>
                <a:cs typeface="Calibri"/>
                <a:sym typeface="Calibri"/>
              </a:rPr>
              <a:t>Mode: append (ofstream)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268730" y="3051810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E33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4A3E33"/>
                </a:solidFill>
                <a:latin typeface="Calibri"/>
                <a:ea typeface="Calibri"/>
                <a:cs typeface="Calibri"/>
                <a:sym typeface="Calibri"/>
              </a:rPr>
              <a:t>One line per order — running history of all sales.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800600" y="1337310"/>
            <a:ext cx="3909060" cy="3394710"/>
          </a:xfrm>
          <a:prstGeom prst="rect">
            <a:avLst/>
          </a:prstGeom>
          <a:solidFill>
            <a:srgbClr val="1F1A16"/>
          </a:solidFill>
          <a:ln cap="flat" cmpd="sng" w="12700">
            <a:solidFill>
              <a:srgbClr val="1F1A1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4800600" y="1337310"/>
            <a:ext cx="3909060" cy="274320"/>
          </a:xfrm>
          <a:prstGeom prst="rect">
            <a:avLst/>
          </a:prstGeom>
          <a:solidFill>
            <a:srgbClr val="2A211B"/>
          </a:solidFill>
          <a:ln cap="flat" cmpd="sng" w="12700">
            <a:solidFill>
              <a:srgbClr val="2A21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4924044" y="1419606"/>
            <a:ext cx="109728" cy="109728"/>
          </a:xfrm>
          <a:prstGeom prst="ellipse">
            <a:avLst/>
          </a:prstGeom>
          <a:solidFill>
            <a:srgbClr val="E06C5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074920" y="1419606"/>
            <a:ext cx="109728" cy="109728"/>
          </a:xfrm>
          <a:prstGeom prst="ellipse">
            <a:avLst/>
          </a:prstGeom>
          <a:solidFill>
            <a:srgbClr val="D4A24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225796" y="1419606"/>
            <a:ext cx="109728" cy="109728"/>
          </a:xfrm>
          <a:prstGeom prst="ellipse">
            <a:avLst/>
          </a:prstGeom>
          <a:solidFill>
            <a:srgbClr val="8FA8A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4800600" y="1337310"/>
            <a:ext cx="39090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A6B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8A7A6B"/>
                </a:solidFill>
                <a:latin typeface="Consolas"/>
                <a:ea typeface="Consolas"/>
                <a:cs typeface="Consolas"/>
                <a:sym typeface="Consolas"/>
              </a:rPr>
              <a:t>receipt.txt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869180" y="1680210"/>
            <a:ext cx="3771900" cy="2983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B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C99B4B"/>
                </a:solidFill>
                <a:latin typeface="Consolas"/>
                <a:ea typeface="Consolas"/>
                <a:cs typeface="Consolas"/>
                <a:sym typeface="Consolas"/>
              </a:rPr>
              <a:t>       ORDER RECEIPT</a:t>
            </a:r>
            <a:br>
              <a:rPr b="1" i="0" lang="en" sz="800" u="none" cap="none" strike="noStrike">
                <a:solidFill>
                  <a:srgbClr val="C99B4B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  ─────────────────────────</a:t>
            </a:r>
            <a:br>
              <a:rPr b="0" i="0" lang="en" sz="8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Order ID  : ORD-001</a:t>
            </a:r>
            <a:b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Customer  : Ali Hassan</a:t>
            </a:r>
            <a:b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Date      : 2026-05-08</a:t>
            </a:r>
            <a:b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1. Samsung Galaxy S24  x1</a:t>
            </a:r>
            <a:br>
              <a:rPr b="0" i="0" lang="en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66B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C9A66B"/>
                </a:solidFill>
                <a:latin typeface="Consolas"/>
                <a:ea typeface="Consolas"/>
                <a:cs typeface="Consolas"/>
                <a:sym typeface="Consolas"/>
              </a:rPr>
              <a:t>       PKR 180,000  − 12%</a:t>
            </a:r>
            <a:br>
              <a:rPr b="0" i="0" lang="en" sz="800" u="none" cap="none" strike="noStrike">
                <a:solidFill>
                  <a:srgbClr val="C9A66B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2. Levi Jeans          x2</a:t>
            </a:r>
            <a:br>
              <a:rPr b="0" i="0" lang="en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66B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C9A66B"/>
                </a:solidFill>
                <a:latin typeface="Consolas"/>
                <a:ea typeface="Consolas"/>
                <a:cs typeface="Consolas"/>
                <a:sym typeface="Consolas"/>
              </a:rPr>
              <a:t>       PKR 10,000   − 15%</a:t>
            </a:r>
            <a:br>
              <a:rPr b="0" i="0" lang="en" sz="800" u="none" cap="none" strike="noStrike">
                <a:solidFill>
                  <a:srgbClr val="C9A66B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Subtotal  : PKR 1,66,900</a:t>
            </a:r>
            <a:b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Tax (5%)  : PKR     8,345</a:t>
            </a:r>
            <a:br>
              <a:rPr b="0" i="0" lang="en" sz="8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  ─────────────────────────</a:t>
            </a:r>
            <a:br>
              <a:rPr b="0" i="0" lang="en" sz="8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B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C99B4B"/>
                </a:solidFill>
                <a:latin typeface="Consolas"/>
                <a:ea typeface="Consolas"/>
                <a:cs typeface="Consolas"/>
                <a:sym typeface="Consolas"/>
              </a:rPr>
              <a:t>  TOTAL     : PKR 1,75,245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